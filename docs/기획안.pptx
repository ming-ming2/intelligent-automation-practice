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6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38912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8C8EB"/>
                </a:solidFill>
                <a:latin typeface="Noto Sans CJK KR"/>
              </a:rPr>
              <a:t>지능형자동화실습 3주차 과제 · 응소.net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Noto Sans CJK KR"/>
              </a:rPr>
              <a:t>경쟁사 공시 변화 탐지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105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Noto Sans CJK KR"/>
              </a:rPr>
              <a:t>및 분석 보고서 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587752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2E1F1"/>
                </a:solidFill>
                <a:latin typeface="Noto Sans CJK KR"/>
              </a:rPr>
              <a:t>OpenDART 공개 공시로 수행하는 전략기획 1차 모니터링 업무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246120"/>
            <a:ext cx="10927080" cy="749808"/>
          </a:xfrm>
          <a:prstGeom prst="roundRect">
            <a:avLst/>
          </a:prstGeom>
          <a:solidFill>
            <a:srgbClr val="1E375D"/>
          </a:solidFill>
          <a:ln w="13970">
            <a:solidFill>
              <a:srgbClr val="3A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3456432"/>
            <a:ext cx="10424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Noto Sans CJK KR"/>
              </a:rPr>
              <a:t>공개 공시와 사전 정의한 프로젝트 기준으로 변화 후보를 생성하고, 최종 중요도는 Human이 판단한다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343400"/>
            <a:ext cx="3401568" cy="1143000"/>
          </a:xfrm>
          <a:prstGeom prst="roundRect">
            <a:avLst/>
          </a:prstGeom>
          <a:solidFill>
            <a:srgbClr val="1B3052"/>
          </a:solidFill>
          <a:ln w="12700">
            <a:solidFill>
              <a:srgbClr val="4660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4517136"/>
            <a:ext cx="868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EB4EB"/>
                </a:solidFill>
                <a:latin typeface="Noto Sans CJK KR"/>
              </a:rPr>
              <a:t>기업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818888"/>
            <a:ext cx="2926080" cy="4985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 dirty="0" err="1">
                <a:solidFill>
                  <a:srgbClr val="FFFFFF"/>
                </a:solidFill>
                <a:latin typeface="Noto Sans CJK KR"/>
              </a:rPr>
              <a:t>삼성전자</a:t>
            </a:r>
            <a:r>
              <a:rPr sz="1320" b="1" dirty="0">
                <a:solidFill>
                  <a:srgbClr val="FFFFFF"/>
                </a:solidFill>
                <a:latin typeface="Noto Sans CJK KR"/>
              </a:rPr>
              <a:t>
</a:t>
            </a:r>
            <a:r>
              <a:rPr sz="1320" b="1" dirty="0" err="1">
                <a:solidFill>
                  <a:srgbClr val="FFFFFF"/>
                </a:solidFill>
                <a:latin typeface="Noto Sans CJK KR"/>
              </a:rPr>
              <a:t>DX부문</a:t>
            </a:r>
            <a:r>
              <a:rPr sz="1320" b="1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1320" b="1" dirty="0" err="1">
                <a:solidFill>
                  <a:srgbClr val="FFFFFF"/>
                </a:solidFill>
                <a:latin typeface="Noto Sans CJK KR"/>
              </a:rPr>
              <a:t>생활가전·전자</a:t>
            </a:r>
            <a:r>
              <a:rPr sz="1320" b="1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1320" b="1" dirty="0" err="1">
                <a:solidFill>
                  <a:srgbClr val="FFFFFF"/>
                </a:solidFill>
                <a:latin typeface="Noto Sans CJK KR"/>
              </a:rPr>
              <a:t>사업</a:t>
            </a:r>
            <a:endParaRPr sz="1320" b="1" dirty="0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297680" y="4343400"/>
            <a:ext cx="3401568" cy="1143000"/>
          </a:xfrm>
          <a:prstGeom prst="roundRect">
            <a:avLst/>
          </a:prstGeom>
          <a:solidFill>
            <a:srgbClr val="1B3052"/>
          </a:solidFill>
          <a:ln w="12700">
            <a:solidFill>
              <a:srgbClr val="4660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4517136"/>
            <a:ext cx="868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EB4EB"/>
                </a:solidFill>
                <a:latin typeface="Noto Sans CJK KR"/>
              </a:rPr>
              <a:t>직무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4818888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FFFFFF"/>
                </a:solidFill>
                <a:latin typeface="Noto Sans CJK KR"/>
              </a:rPr>
              <a:t>전략기획 담당자
Competitive Intelligence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4343400"/>
            <a:ext cx="3401568" cy="1143000"/>
          </a:xfrm>
          <a:prstGeom prst="roundRect">
            <a:avLst/>
          </a:prstGeom>
          <a:solidFill>
            <a:srgbClr val="1B3052"/>
          </a:solidFill>
          <a:ln w="12700">
            <a:solidFill>
              <a:srgbClr val="4660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4517136"/>
            <a:ext cx="868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EB4EB"/>
                </a:solidFill>
                <a:latin typeface="Noto Sans CJK KR"/>
              </a:rPr>
              <a:t>대상 업무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4818888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FFFFFF"/>
                </a:solidFill>
                <a:latin typeface="Noto Sans CJK KR"/>
              </a:rPr>
              <a:t>LG전자 주요 공시
변화 탐지·분석·보고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897880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2E1F1"/>
                </a:solidFill>
                <a:latin typeface="Noto Sans CJK KR"/>
              </a:rPr>
              <a:t>TEAM · 임기연  ·  김유정  ·  김성엽  ·  박정엽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6437376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D2E1F1"/>
                </a:solidFill>
                <a:latin typeface="Noto Sans CJK KR"/>
              </a:rPr>
              <a:t>01/07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834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B62B7"/>
                </a:solidFill>
                <a:latin typeface="Noto Sans CJK KR"/>
              </a:rPr>
              <a:t>COMPANY / ROLE / PROJECT TOPIC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52642"/>
                </a:solidFill>
                <a:latin typeface="Noto Sans CJK KR"/>
              </a:rPr>
              <a:t>기업 / 직무 / 프로젝트 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08760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52642"/>
                </a:solidFill>
                <a:latin typeface="Noto Sans CJK KR"/>
              </a:rPr>
              <a:t>선정 이유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01952"/>
            <a:ext cx="5486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2048256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B62B7"/>
                </a:solidFill>
                <a:latin typeface="Noto Sans CJK KR"/>
              </a:rPr>
              <a:t>실제 데이터 확보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020824"/>
            <a:ext cx="3566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263141"/>
                </a:solidFill>
                <a:latin typeface="Noto Sans CJK KR"/>
              </a:rPr>
              <a:t>OpenDART 공시검색·원문·재무정보 등 공개 API 활용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706624"/>
            <a:ext cx="5486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852928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B62B7"/>
                </a:solidFill>
                <a:latin typeface="Noto Sans CJK KR"/>
              </a:rPr>
              <a:t>범위 명확화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825496"/>
            <a:ext cx="3566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263141"/>
                </a:solidFill>
                <a:latin typeface="Noto Sans CJK KR"/>
              </a:rPr>
              <a:t>삼성전자 DX 가전·전자 사업을 가정, LG전자를 우선 경쟁사로 설정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511296"/>
            <a:ext cx="5486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3657600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B62B7"/>
                </a:solidFill>
                <a:latin typeface="Noto Sans CJK KR"/>
              </a:rPr>
              <a:t>역할 분리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3630168"/>
            <a:ext cx="3566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dirty="0">
                <a:solidFill>
                  <a:srgbClr val="263141"/>
                </a:solidFill>
                <a:latin typeface="Noto Sans CJK KR"/>
              </a:rPr>
              <a:t>API </a:t>
            </a:r>
            <a:r>
              <a:rPr sz="1080" b="0" dirty="0" err="1">
                <a:solidFill>
                  <a:srgbClr val="263141"/>
                </a:solidFill>
                <a:latin typeface="Noto Sans CJK KR"/>
              </a:rPr>
              <a:t>호출·계산은</a:t>
            </a:r>
            <a:r>
              <a:rPr sz="1080" b="0" dirty="0">
                <a:solidFill>
                  <a:srgbClr val="263141"/>
                </a:solidFill>
                <a:latin typeface="Noto Sans CJK KR"/>
              </a:rPr>
              <a:t> Program, </a:t>
            </a:r>
            <a:r>
              <a:rPr sz="1080" b="0" dirty="0" err="1">
                <a:solidFill>
                  <a:srgbClr val="263141"/>
                </a:solidFill>
                <a:latin typeface="Noto Sans CJK KR"/>
              </a:rPr>
              <a:t>문서</a:t>
            </a:r>
            <a:r>
              <a:rPr sz="1080" b="0" dirty="0">
                <a:solidFill>
                  <a:srgbClr val="263141"/>
                </a:solidFill>
                <a:latin typeface="Noto Sans CJK KR"/>
              </a:rPr>
              <a:t> </a:t>
            </a:r>
            <a:r>
              <a:rPr sz="1080" b="0" dirty="0" err="1">
                <a:solidFill>
                  <a:srgbClr val="263141"/>
                </a:solidFill>
                <a:latin typeface="Noto Sans CJK KR"/>
              </a:rPr>
              <a:t>이해·분석은</a:t>
            </a:r>
            <a:r>
              <a:rPr sz="1080" b="0" dirty="0">
                <a:solidFill>
                  <a:srgbClr val="263141"/>
                </a:solidFill>
                <a:latin typeface="Noto Sans CJK KR"/>
              </a:rPr>
              <a:t> Agent, </a:t>
            </a:r>
            <a:r>
              <a:rPr sz="1080" b="0" dirty="0" err="1">
                <a:solidFill>
                  <a:srgbClr val="263141"/>
                </a:solidFill>
                <a:latin typeface="Noto Sans CJK KR"/>
              </a:rPr>
              <a:t>중요도는</a:t>
            </a:r>
            <a:r>
              <a:rPr sz="1080" b="0" dirty="0">
                <a:solidFill>
                  <a:srgbClr val="263141"/>
                </a:solidFill>
                <a:latin typeface="Noto Sans CJK KR"/>
              </a:rPr>
              <a:t> Human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1417320"/>
            <a:ext cx="5193792" cy="786384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93408" y="1563624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62B7"/>
                </a:solidFill>
                <a:latin typeface="Noto Sans CJK KR"/>
              </a:rPr>
              <a:t>기업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1549146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52642"/>
                </a:solidFill>
                <a:latin typeface="Noto Sans CJK KR"/>
              </a:rPr>
              <a:t>삼성전자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1545336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616F82"/>
                </a:solidFill>
                <a:latin typeface="Noto Sans CJK KR"/>
              </a:rPr>
              <a:t>전략기획·경쟁사 모니터링 업무를 과제상 설정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2377440"/>
            <a:ext cx="5193792" cy="786384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93408" y="2523744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62B7"/>
                </a:solidFill>
                <a:latin typeface="Noto Sans CJK KR"/>
              </a:rPr>
              <a:t>대상 사업영역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509266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52642"/>
                </a:solidFill>
                <a:latin typeface="Noto Sans CJK KR"/>
              </a:rPr>
              <a:t>DX부문 생활가전·전자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2505456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616F82"/>
                </a:solidFill>
                <a:latin typeface="Noto Sans CJK KR"/>
              </a:rPr>
              <a:t>사업범위가 넓은 삼성전자를 한 영역으로 축소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3337560"/>
            <a:ext cx="5193792" cy="786384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93408" y="3483864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62B7"/>
                </a:solidFill>
                <a:latin typeface="Noto Sans CJK KR"/>
              </a:rPr>
              <a:t>경쟁사 범위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469386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52642"/>
                </a:solidFill>
                <a:latin typeface="Noto Sans CJK KR"/>
              </a:rPr>
              <a:t>LG전자 우선 분석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3465576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616F82"/>
                </a:solidFill>
                <a:latin typeface="Noto Sans CJK KR"/>
              </a:rPr>
              <a:t>OpenDART에 실제 공시가 있는 국내 경쟁기업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4297680"/>
            <a:ext cx="5193792" cy="786384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6693408" y="4443984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62B7"/>
                </a:solidFill>
                <a:latin typeface="Noto Sans CJK KR"/>
              </a:rPr>
              <a:t>프로젝트 주제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4429506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dirty="0" err="1">
                <a:solidFill>
                  <a:srgbClr val="152642"/>
                </a:solidFill>
                <a:latin typeface="Noto Sans CJK KR"/>
              </a:rPr>
              <a:t>공시</a:t>
            </a:r>
            <a:r>
              <a:rPr sz="1250" b="1" dirty="0">
                <a:solidFill>
                  <a:srgbClr val="152642"/>
                </a:solidFill>
                <a:latin typeface="Noto Sans CJK KR"/>
              </a:rPr>
              <a:t> </a:t>
            </a:r>
            <a:r>
              <a:rPr sz="1250" b="1" dirty="0" err="1">
                <a:solidFill>
                  <a:srgbClr val="152642"/>
                </a:solidFill>
                <a:latin typeface="Noto Sans CJK KR"/>
              </a:rPr>
              <a:t>변화</a:t>
            </a:r>
            <a:r>
              <a:rPr sz="1250" b="1" dirty="0">
                <a:solidFill>
                  <a:srgbClr val="152642"/>
                </a:solidFill>
                <a:latin typeface="Noto Sans CJK KR"/>
              </a:rPr>
              <a:t> </a:t>
            </a:r>
            <a:r>
              <a:rPr sz="1250" b="1" dirty="0" err="1">
                <a:solidFill>
                  <a:srgbClr val="152642"/>
                </a:solidFill>
                <a:latin typeface="Noto Sans CJK KR"/>
              </a:rPr>
              <a:t>탐지·분석</a:t>
            </a:r>
            <a:r>
              <a:rPr sz="1250" b="1" dirty="0">
                <a:solidFill>
                  <a:srgbClr val="152642"/>
                </a:solidFill>
                <a:latin typeface="Noto Sans CJK KR"/>
              </a:rPr>
              <a:t> </a:t>
            </a:r>
            <a:r>
              <a:rPr sz="1250" b="1" dirty="0" err="1">
                <a:solidFill>
                  <a:srgbClr val="152642"/>
                </a:solidFill>
                <a:latin typeface="Noto Sans CJK KR"/>
              </a:rPr>
              <a:t>보고서</a:t>
            </a:r>
            <a:endParaRPr sz="1250" b="1" dirty="0">
              <a:solidFill>
                <a:srgbClr val="152642"/>
              </a:solidFill>
              <a:latin typeface="Noto Sans CJK KR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464040" y="4425696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 dirty="0" err="1">
                <a:solidFill>
                  <a:srgbClr val="616F82"/>
                </a:solidFill>
                <a:latin typeface="Noto Sans CJK KR"/>
              </a:rPr>
              <a:t>주요</a:t>
            </a:r>
            <a:r>
              <a:rPr sz="930" b="0" dirty="0">
                <a:solidFill>
                  <a:srgbClr val="616F82"/>
                </a:solidFill>
                <a:latin typeface="Noto Sans CJK KR"/>
              </a:rPr>
              <a:t> </a:t>
            </a:r>
            <a:r>
              <a:rPr sz="930" b="0" dirty="0" err="1">
                <a:solidFill>
                  <a:srgbClr val="616F82"/>
                </a:solidFill>
                <a:latin typeface="Noto Sans CJK KR"/>
              </a:rPr>
              <a:t>공시</a:t>
            </a:r>
            <a:r>
              <a:rPr sz="930" b="0" dirty="0">
                <a:solidFill>
                  <a:srgbClr val="616F82"/>
                </a:solidFill>
                <a:latin typeface="Noto Sans CJK KR"/>
              </a:rPr>
              <a:t> </a:t>
            </a:r>
            <a:r>
              <a:rPr sz="930" b="0" dirty="0" err="1">
                <a:solidFill>
                  <a:srgbClr val="616F82"/>
                </a:solidFill>
                <a:latin typeface="Noto Sans CJK KR"/>
              </a:rPr>
              <a:t>수집</a:t>
            </a:r>
            <a:r>
              <a:rPr sz="930" b="0" dirty="0">
                <a:solidFill>
                  <a:srgbClr val="616F82"/>
                </a:solidFill>
                <a:latin typeface="Noto Sans CJK KR"/>
              </a:rPr>
              <a:t> → </a:t>
            </a:r>
            <a:r>
              <a:rPr sz="930" b="0" dirty="0" err="1">
                <a:solidFill>
                  <a:srgbClr val="616F82"/>
                </a:solidFill>
                <a:latin typeface="Noto Sans CJK KR"/>
              </a:rPr>
              <a:t>변화</a:t>
            </a:r>
            <a:r>
              <a:rPr sz="930" b="0" dirty="0">
                <a:solidFill>
                  <a:srgbClr val="616F82"/>
                </a:solidFill>
                <a:latin typeface="Noto Sans CJK KR"/>
              </a:rPr>
              <a:t> </a:t>
            </a:r>
            <a:r>
              <a:rPr sz="930" b="0" dirty="0" err="1">
                <a:solidFill>
                  <a:srgbClr val="616F82"/>
                </a:solidFill>
                <a:latin typeface="Noto Sans CJK KR"/>
              </a:rPr>
              <a:t>후보</a:t>
            </a:r>
            <a:r>
              <a:rPr sz="930" b="0" dirty="0">
                <a:solidFill>
                  <a:srgbClr val="616F82"/>
                </a:solidFill>
                <a:latin typeface="Noto Sans CJK KR"/>
              </a:rPr>
              <a:t> </a:t>
            </a:r>
            <a:r>
              <a:rPr sz="930" b="0" dirty="0" err="1">
                <a:solidFill>
                  <a:srgbClr val="616F82"/>
                </a:solidFill>
                <a:latin typeface="Noto Sans CJK KR"/>
              </a:rPr>
              <a:t>탐지</a:t>
            </a:r>
            <a:r>
              <a:rPr sz="930" b="0" dirty="0">
                <a:solidFill>
                  <a:srgbClr val="616F82"/>
                </a:solidFill>
                <a:latin typeface="Noto Sans CJK KR"/>
              </a:rPr>
              <a:t> → </a:t>
            </a:r>
            <a:r>
              <a:rPr sz="930" b="0" dirty="0" err="1">
                <a:solidFill>
                  <a:srgbClr val="616F82"/>
                </a:solidFill>
                <a:latin typeface="Noto Sans CJK KR"/>
              </a:rPr>
              <a:t>분석</a:t>
            </a:r>
            <a:r>
              <a:rPr sz="930" b="0" dirty="0">
                <a:solidFill>
                  <a:srgbClr val="616F82"/>
                </a:solidFill>
                <a:latin typeface="Noto Sans CJK KR"/>
              </a:rPr>
              <a:t> </a:t>
            </a:r>
            <a:r>
              <a:rPr sz="930" b="0" dirty="0" err="1">
                <a:solidFill>
                  <a:srgbClr val="616F82"/>
                </a:solidFill>
                <a:latin typeface="Noto Sans CJK KR"/>
              </a:rPr>
              <a:t>초안</a:t>
            </a:r>
            <a:r>
              <a:rPr sz="930" b="0" dirty="0">
                <a:solidFill>
                  <a:srgbClr val="616F82"/>
                </a:solidFill>
                <a:latin typeface="Noto Sans CJK KR"/>
              </a:rPr>
              <a:t> → Human </a:t>
            </a:r>
            <a:r>
              <a:rPr sz="930" b="0" dirty="0" err="1">
                <a:solidFill>
                  <a:srgbClr val="616F82"/>
                </a:solidFill>
                <a:latin typeface="Noto Sans CJK KR"/>
              </a:rPr>
              <a:t>검토</a:t>
            </a:r>
            <a:endParaRPr sz="930" b="0" dirty="0">
              <a:solidFill>
                <a:srgbClr val="616F82"/>
              </a:solidFill>
              <a:latin typeface="Noto Sans CJK KR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94360" y="5669280"/>
            <a:ext cx="11045952" cy="530352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BED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" y="5824728"/>
            <a:ext cx="10561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52642"/>
                </a:solidFill>
                <a:latin typeface="Noto Sans CJK KR"/>
              </a:rPr>
              <a:t>핵심 메시지  |  공개 공시와 사전 정의한 프로젝트 기준으로 변화 후보를 만들고, 최종 중요도는 사람이 판단한다.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37376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16F82"/>
                </a:solidFill>
                <a:latin typeface="Noto Sans CJK KR"/>
              </a:rPr>
              <a:t>02/07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834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B62B7"/>
                </a:solidFill>
                <a:latin typeface="Noto Sans CJK KR"/>
              </a:rPr>
              <a:t>TARGET TASK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 err="1">
                <a:solidFill>
                  <a:srgbClr val="152642"/>
                </a:solidFill>
                <a:latin typeface="Noto Sans CJK KR"/>
              </a:rPr>
              <a:t>대상</a:t>
            </a:r>
            <a:r>
              <a:rPr sz="2400" b="1" dirty="0">
                <a:solidFill>
                  <a:srgbClr val="152642"/>
                </a:solidFill>
                <a:latin typeface="Noto Sans CJK KR"/>
              </a:rPr>
              <a:t> </a:t>
            </a:r>
            <a:r>
              <a:rPr sz="2400" b="1" dirty="0" err="1">
                <a:solidFill>
                  <a:srgbClr val="152642"/>
                </a:solidFill>
                <a:latin typeface="Noto Sans CJK KR"/>
              </a:rPr>
              <a:t>업무와</a:t>
            </a:r>
            <a:r>
              <a:rPr sz="2400" b="1" dirty="0">
                <a:solidFill>
                  <a:srgbClr val="152642"/>
                </a:solidFill>
                <a:latin typeface="Noto Sans CJK KR"/>
              </a:rPr>
              <a:t> </a:t>
            </a:r>
            <a:r>
              <a:rPr sz="2400" b="1" dirty="0" err="1">
                <a:solidFill>
                  <a:srgbClr val="152642"/>
                </a:solidFill>
                <a:latin typeface="Noto Sans CJK KR"/>
              </a:rPr>
              <a:t>선정</a:t>
            </a:r>
            <a:r>
              <a:rPr sz="2400" b="1" dirty="0">
                <a:solidFill>
                  <a:srgbClr val="152642"/>
                </a:solidFill>
                <a:latin typeface="Noto Sans CJK KR"/>
              </a:rPr>
              <a:t> </a:t>
            </a:r>
            <a:r>
              <a:rPr sz="2400" b="1" dirty="0" err="1">
                <a:solidFill>
                  <a:srgbClr val="152642"/>
                </a:solidFill>
                <a:latin typeface="Noto Sans CJK KR"/>
              </a:rPr>
              <a:t>이유</a:t>
            </a:r>
            <a:r>
              <a:rPr sz="2400" b="1" dirty="0">
                <a:solidFill>
                  <a:srgbClr val="152642"/>
                </a:solidFill>
                <a:latin typeface="Noto Sans CJK KR"/>
              </a:rPr>
              <a:t>, </a:t>
            </a:r>
            <a:r>
              <a:rPr sz="2400" b="1" dirty="0" err="1">
                <a:solidFill>
                  <a:srgbClr val="152642"/>
                </a:solidFill>
                <a:latin typeface="Noto Sans CJK KR"/>
              </a:rPr>
              <a:t>업무</a:t>
            </a:r>
            <a:r>
              <a:rPr sz="2400" b="1" dirty="0">
                <a:solidFill>
                  <a:srgbClr val="152642"/>
                </a:solidFill>
                <a:latin typeface="Noto Sans CJK KR"/>
              </a:rPr>
              <a:t> </a:t>
            </a:r>
            <a:r>
              <a:rPr sz="2400" b="1" dirty="0" err="1">
                <a:solidFill>
                  <a:srgbClr val="152642"/>
                </a:solidFill>
                <a:latin typeface="Noto Sans CJK KR"/>
              </a:rPr>
              <a:t>목적</a:t>
            </a:r>
            <a:r>
              <a:rPr sz="2400" b="1" dirty="0">
                <a:solidFill>
                  <a:srgbClr val="152642"/>
                </a:solidFill>
                <a:latin typeface="Noto Sans CJK KR"/>
              </a:rPr>
              <a:t> </a:t>
            </a:r>
            <a:r>
              <a:rPr sz="2400" b="1" dirty="0" err="1">
                <a:solidFill>
                  <a:srgbClr val="152642"/>
                </a:solidFill>
                <a:latin typeface="Noto Sans CJK KR"/>
              </a:rPr>
              <a:t>정의</a:t>
            </a:r>
            <a:endParaRPr sz="2400" b="1" dirty="0">
              <a:solidFill>
                <a:srgbClr val="152642"/>
              </a:solidFill>
              <a:latin typeface="Noto Sans CJK KR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481328"/>
            <a:ext cx="257860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" y="164592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B62B7"/>
                </a:solidFill>
                <a:latin typeface="Noto Sans CJK KR"/>
              </a:rPr>
              <a:t>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956816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263141"/>
                </a:solidFill>
                <a:latin typeface="Noto Sans CJK KR"/>
              </a:rPr>
              <a:t>분석 대상 기업·기간·공시유형 설정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79" y="1481328"/>
            <a:ext cx="257860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11296" y="164592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B62B7"/>
                </a:solidFill>
                <a:latin typeface="Noto Sans CJK KR"/>
              </a:rPr>
              <a:t>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1296" y="1956816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263141"/>
                </a:solidFill>
                <a:latin typeface="Noto Sans CJK KR"/>
              </a:rPr>
              <a:t>Human 검토 후 분석 보고서와 이력 저장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81328"/>
            <a:ext cx="257860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0216" y="164592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B62B7"/>
                </a:solidFill>
                <a:latin typeface="Noto Sans CJK KR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1956816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263141"/>
                </a:solidFill>
                <a:latin typeface="Noto Sans CJK KR"/>
              </a:rPr>
              <a:t>FACT·CHANGE·INTERPRETATION·확인사항 보고서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19" y="1481328"/>
            <a:ext cx="257860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89136" y="164592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B62B7"/>
                </a:solidFill>
                <a:latin typeface="Noto Sans CJK KR"/>
              </a:rPr>
              <a:t>SUCCESS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9136" y="1956816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263141"/>
                </a:solidFill>
                <a:latin typeface="Noto Sans CJK KR"/>
              </a:rPr>
              <a:t>원문 근거 연결 · 사실/해석 구분 · 확인 필요 표시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743200"/>
            <a:ext cx="5394960" cy="233172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2962656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52642"/>
                </a:solidFill>
                <a:latin typeface="Noto Sans CJK KR"/>
              </a:rPr>
              <a:t>업무 목적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3355848"/>
            <a:ext cx="4892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30">
                <a:solidFill>
                  <a:srgbClr val="263141"/>
                </a:solidFill>
                <a:latin typeface="Noto Sans CJK KR"/>
              </a:defRPr>
            </a:pPr>
            <a:r>
              <a:t>• 경쟁사의 투자·사업 변화와 관련된 주요 공시를 빠르게 파악</a:t>
            </a:r>
          </a:p>
          <a:p>
            <a:pPr>
              <a:spcAft>
                <a:spcPts val="400"/>
              </a:spcAft>
              <a:defRPr sz="1130">
                <a:solidFill>
                  <a:srgbClr val="263141"/>
                </a:solidFill>
                <a:latin typeface="Noto Sans CJK KR"/>
              </a:defRPr>
            </a:pPr>
            <a:r>
              <a:t>• 전략기획 담당자가 원문 근거를 확인하며 검토할 수 있는 초안 제공</a:t>
            </a:r>
          </a:p>
          <a:p>
            <a:pPr>
              <a:spcAft>
                <a:spcPts val="400"/>
              </a:spcAft>
              <a:defRPr sz="1130">
                <a:solidFill>
                  <a:srgbClr val="263141"/>
                </a:solidFill>
                <a:latin typeface="Noto Sans CJK KR"/>
              </a:defRPr>
            </a:pPr>
            <a:r>
              <a:t>• 공개 공시로 확인되지 않는 내용은 ‘확인 필요’로 분리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743200"/>
            <a:ext cx="537667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2962656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52642"/>
                </a:solidFill>
                <a:latin typeface="Noto Sans CJK KR"/>
              </a:rPr>
              <a:t>데이터 범위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355848"/>
            <a:ext cx="4892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70">
                <a:solidFill>
                  <a:srgbClr val="263141"/>
                </a:solidFill>
                <a:latin typeface="Noto Sans CJK KR"/>
              </a:defRPr>
            </a:pPr>
            <a:r>
              <a:t>• 기업: LG전자 우선, 필요 시 국내 전자·부품 기업 확장</a:t>
            </a:r>
          </a:p>
          <a:p>
            <a:pPr>
              <a:spcAft>
                <a:spcPts val="400"/>
              </a:spcAft>
              <a:defRPr sz="1070">
                <a:solidFill>
                  <a:srgbClr val="263141"/>
                </a:solidFill>
                <a:latin typeface="Noto Sans CJK KR"/>
              </a:defRPr>
            </a:pPr>
            <a:r>
              <a:t>• 기간: 기본 최근 3개년, 동일 유형 비교 사례가 적을 경우 최대 최근 5개년까지 확장</a:t>
            </a:r>
          </a:p>
          <a:p>
            <a:pPr>
              <a:spcAft>
                <a:spcPts val="400"/>
              </a:spcAft>
              <a:defRPr sz="1070">
                <a:solidFill>
                  <a:srgbClr val="263141"/>
                </a:solidFill>
                <a:latin typeface="Noto Sans CJK KR"/>
              </a:defRPr>
            </a:pPr>
            <a:r>
              <a:t>• 공시유형: 주요사항보고서, 사업·반기·분기보고서, 투자·취득·처분 관련 공시</a:t>
            </a:r>
          </a:p>
          <a:p>
            <a:pPr>
              <a:spcAft>
                <a:spcPts val="400"/>
              </a:spcAft>
              <a:defRPr sz="1070">
                <a:solidFill>
                  <a:srgbClr val="263141"/>
                </a:solidFill>
                <a:latin typeface="Noto Sans CJK KR"/>
              </a:defRPr>
            </a:pPr>
            <a:r>
              <a:t>• 데이터관리: 최초 수집 후 SQLite/CSV에 누적 저장, 이후 신규 공시만 추가 조회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7080" y="6437376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16F82"/>
                </a:solidFill>
                <a:latin typeface="Noto Sans CJK KR"/>
              </a:rPr>
              <a:t>03/07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834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B62B7"/>
                </a:solidFill>
                <a:latin typeface="Noto Sans CJK KR"/>
              </a:rPr>
              <a:t>AS-IS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52642"/>
                </a:solidFill>
                <a:latin typeface="Noto Sans CJK KR"/>
              </a:rPr>
              <a:t>현재 업무 프로세스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33271"/>
            <a:ext cx="1097280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sz="1150" dirty="0">
                <a:solidFill>
                  <a:srgbClr val="616F82"/>
                </a:solidFill>
                <a:latin typeface="Noto Sans CJK KR"/>
              </a:rPr>
              <a:t>경쟁사 공시 모니터링 업무는 </a:t>
            </a:r>
            <a:r>
              <a:rPr lang="en-US" altLang="ko-KR" sz="1150" dirty="0">
                <a:solidFill>
                  <a:srgbClr val="616F82"/>
                </a:solidFill>
                <a:latin typeface="Noto Sans CJK KR"/>
              </a:rPr>
              <a:t>DART</a:t>
            </a:r>
            <a:r>
              <a:rPr lang="ko-KR" altLang="en-US" sz="1150" dirty="0">
                <a:solidFill>
                  <a:srgbClr val="616F82"/>
                </a:solidFill>
                <a:latin typeface="Noto Sans CJK KR"/>
              </a:rPr>
              <a:t>에서 신규 공시를 확인하고</a:t>
            </a:r>
            <a:r>
              <a:rPr lang="en-US" altLang="ko-KR" sz="1150" dirty="0">
                <a:solidFill>
                  <a:srgbClr val="616F82"/>
                </a:solidFill>
                <a:latin typeface="Noto Sans CJK KR"/>
              </a:rPr>
              <a:t>, </a:t>
            </a:r>
            <a:r>
              <a:rPr lang="ko-KR" altLang="en-US" sz="1150" dirty="0">
                <a:solidFill>
                  <a:srgbClr val="616F82"/>
                </a:solidFill>
                <a:latin typeface="Noto Sans CJK KR"/>
              </a:rPr>
              <a:t>공시 원문과 과거 자료를 검토</a:t>
            </a:r>
            <a:r>
              <a:rPr lang="en-US" altLang="ko-KR" sz="1150" dirty="0">
                <a:solidFill>
                  <a:srgbClr val="616F82"/>
                </a:solidFill>
                <a:latin typeface="Noto Sans CJK KR"/>
              </a:rPr>
              <a:t>·</a:t>
            </a:r>
            <a:r>
              <a:rPr lang="ko-KR" altLang="en-US" sz="1150" dirty="0">
                <a:solidFill>
                  <a:srgbClr val="616F82"/>
                </a:solidFill>
                <a:latin typeface="Noto Sans CJK KR"/>
              </a:rPr>
              <a:t>비교한 뒤 주요 변화와 확인사항을 정리하여 보고하는 과정으로 이루어진다</a:t>
            </a:r>
            <a:r>
              <a:rPr lang="en-US" altLang="ko-KR" sz="1150" dirty="0">
                <a:solidFill>
                  <a:srgbClr val="616F82"/>
                </a:solidFill>
                <a:latin typeface="Noto Sans CJK KR"/>
              </a:rPr>
              <a:t>.</a:t>
            </a:r>
            <a:endParaRPr sz="1150" b="0" dirty="0">
              <a:solidFill>
                <a:srgbClr val="616F82"/>
              </a:solidFill>
              <a:latin typeface="Noto Sans CJK KR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20040" y="1874519"/>
            <a:ext cx="144475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2066543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B62B7"/>
                </a:solidFill>
                <a:latin typeface="Noto Sans CJK K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2450592"/>
            <a:ext cx="122529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52642"/>
                </a:solidFill>
                <a:latin typeface="Noto Sans CJK KR"/>
              </a:rPr>
              <a:t>경쟁사·기간 설정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3035808"/>
            <a:ext cx="122529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263141"/>
                </a:solidFill>
                <a:latin typeface="Noto Sans CJK KR"/>
              </a:rPr>
              <a:t>분석할 기업, 사업영역,
조회 기간 지정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2724912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16F82"/>
                </a:solidFill>
                <a:latin typeface="Noto Sans CJK KR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02536" y="1874519"/>
            <a:ext cx="144475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12264" y="2066543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B62B7"/>
                </a:solidFill>
                <a:latin typeface="Noto Sans CJK K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12264" y="2450592"/>
            <a:ext cx="122529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52642"/>
                </a:solidFill>
                <a:latin typeface="Noto Sans CJK KR"/>
              </a:rPr>
              <a:t>공시 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2264" y="3035808"/>
            <a:ext cx="122529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263141"/>
                </a:solidFill>
                <a:latin typeface="Noto Sans CJK KR"/>
              </a:rPr>
              <a:t>DART에서 기업별
신규 공시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2724912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16F82"/>
                </a:solidFill>
                <a:latin typeface="Noto Sans CJK KR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85032" y="1874519"/>
            <a:ext cx="144475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94760" y="2066543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B62B7"/>
                </a:solidFill>
                <a:latin typeface="Noto Sans CJK KR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450592"/>
            <a:ext cx="122529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52642"/>
                </a:solidFill>
                <a:latin typeface="Noto Sans CJK KR"/>
              </a:rPr>
              <a:t>중요 공시 선별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035808"/>
            <a:ext cx="122529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263141"/>
                </a:solidFill>
                <a:latin typeface="Noto Sans CJK KR"/>
              </a:rPr>
              <a:t>보고서명·공시유형으로
검토 필요 여부 판단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9784" y="2724912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16F82"/>
                </a:solidFill>
                <a:latin typeface="Noto Sans CJK KR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67528" y="1874519"/>
            <a:ext cx="144475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77256" y="2066543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B62B7"/>
                </a:solidFill>
                <a:latin typeface="Noto Sans CJK KR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77256" y="2450592"/>
            <a:ext cx="122529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52642"/>
                </a:solidFill>
                <a:latin typeface="Noto Sans CJK KR"/>
              </a:rPr>
              <a:t>원문 검토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77256" y="3035808"/>
            <a:ext cx="122529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263141"/>
                </a:solidFill>
                <a:latin typeface="Noto Sans CJK KR"/>
              </a:rPr>
              <a:t>긴 공시에서 사건·금액·
일자·대상 사업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724912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16F82"/>
                </a:solidFill>
                <a:latin typeface="Noto Sans CJK KR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50024" y="1874519"/>
            <a:ext cx="144475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59752" y="2066543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B62B7"/>
                </a:solidFill>
                <a:latin typeface="Noto Sans CJK KR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9752" y="2450592"/>
            <a:ext cx="122529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52642"/>
                </a:solidFill>
                <a:latin typeface="Noto Sans CJK KR"/>
              </a:rPr>
              <a:t>과거 비교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9752" y="3035808"/>
            <a:ext cx="122529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263141"/>
                </a:solidFill>
                <a:latin typeface="Noto Sans CJK KR"/>
              </a:rPr>
              <a:t>이전 공시·재무수치와
변화 여부 대조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94776" y="2724912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16F82"/>
                </a:solidFill>
                <a:latin typeface="Noto Sans CJK KR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32520" y="1874519"/>
            <a:ext cx="144475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42248" y="2066543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B62B7"/>
                </a:solidFill>
                <a:latin typeface="Noto Sans CJK KR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42248" y="2450592"/>
            <a:ext cx="122529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52642"/>
                </a:solidFill>
                <a:latin typeface="Noto Sans CJK KR"/>
              </a:rPr>
              <a:t>변화·영향 검토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42248" y="3035808"/>
            <a:ext cx="122529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263141"/>
                </a:solidFill>
                <a:latin typeface="Noto Sans CJK KR"/>
              </a:rPr>
              <a:t>과거 대비 변화와
확인사항 정리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77272" y="2724912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16F82"/>
                </a:solidFill>
                <a:latin typeface="Noto Sans CJK KR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15016" y="1874519"/>
            <a:ext cx="144475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524744" y="2066543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B62B7"/>
                </a:solidFill>
                <a:latin typeface="Noto Sans CJK KR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24744" y="2450592"/>
            <a:ext cx="122529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52642"/>
                </a:solidFill>
                <a:latin typeface="Noto Sans CJK KR"/>
              </a:rPr>
              <a:t>보고서 작성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24744" y="3035808"/>
            <a:ext cx="122529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263141"/>
                </a:solidFill>
                <a:latin typeface="Noto Sans CJK KR"/>
              </a:rPr>
              <a:t>근거 링크와 함께
요약 보고서 작성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4800600"/>
            <a:ext cx="11045952" cy="804672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501091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B62B7"/>
                </a:solidFill>
                <a:latin typeface="Noto Sans CJK KR"/>
              </a:rPr>
              <a:t>As-Is 병목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1720" y="4965192"/>
            <a:ext cx="8961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3141"/>
                </a:solidFill>
                <a:latin typeface="Noto Sans CJK KR"/>
              </a:rPr>
              <a:t>공시는 공개되어 있지만, 검토 후보 선별·원문 근거 추출·과거 비교·보고서 작성은 여전히 사람의 반복 작업에 의존한다.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27080" y="6437376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16F82"/>
                </a:solidFill>
                <a:latin typeface="Noto Sans CJK KR"/>
              </a:rPr>
              <a:t>04/07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834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B62B7"/>
                </a:solidFill>
                <a:latin typeface="Noto Sans CJK KR"/>
              </a:rPr>
              <a:t>PAIN POINTS &amp; DESIGN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52642"/>
                </a:solidFill>
                <a:latin typeface="Noto Sans CJK KR"/>
              </a:rPr>
              <a:t>현재 업무의 문제점과 피드백 반영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11045952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655063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B62B7"/>
                </a:solidFill>
                <a:latin typeface="Noto Sans CJK KR"/>
              </a:rPr>
              <a:t>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27631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152642"/>
                </a:solidFill>
                <a:latin typeface="Noto Sans CJK KR"/>
              </a:rPr>
              <a:t>범위가 넓음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627631"/>
            <a:ext cx="8321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263141"/>
                </a:solidFill>
                <a:latin typeface="Noto Sans CJK KR"/>
              </a:rPr>
              <a:t>삼성전자 전체가 아닌 DX 생활가전·전자 사업, LG전자 우선 분석으로 한정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95144"/>
            <a:ext cx="11045952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441448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B62B7"/>
                </a:solidFill>
                <a:latin typeface="Noto Sans CJK KR"/>
              </a:rPr>
              <a:t>P2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414015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152642"/>
                </a:solidFill>
                <a:latin typeface="Noto Sans CJK KR"/>
              </a:rPr>
              <a:t>자료 수집 반복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414015"/>
            <a:ext cx="8321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263141"/>
                </a:solidFill>
                <a:latin typeface="Noto Sans CJK KR"/>
              </a:rPr>
              <a:t>OpenDART 최초 수집 후 SQLite/CSV 누적 저장, 신규 공시만 추가 조회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081528"/>
            <a:ext cx="11045952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322783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B62B7"/>
                </a:solidFill>
                <a:latin typeface="Noto Sans CJK KR"/>
              </a:rPr>
              <a:t>P3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200400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152642"/>
                </a:solidFill>
                <a:latin typeface="Noto Sans CJK KR"/>
              </a:rPr>
              <a:t>유의미한 변화 기준 모호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200400"/>
            <a:ext cx="8321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263141"/>
                </a:solidFill>
                <a:latin typeface="Noto Sans CJK KR"/>
              </a:rPr>
              <a:t>내부 기준이 아닌 프로젝트 기준으로 변화 후보 탐지: 금액 ±20%, 재무 ±15%, 신규/반복 발생 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867912"/>
            <a:ext cx="11045952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4014216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B62B7"/>
                </a:solidFill>
                <a:latin typeface="Noto Sans CJK KR"/>
              </a:rPr>
              <a:t>P4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98678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152642"/>
                </a:solidFill>
                <a:latin typeface="Noto Sans CJK KR"/>
              </a:rPr>
              <a:t>해석 과잉 가능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986784"/>
            <a:ext cx="8321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263141"/>
                </a:solidFill>
                <a:latin typeface="Noto Sans CJK KR"/>
              </a:rPr>
              <a:t>FACT / INTERPRETATION / NEEDS_VERIFICATION 구분을 Output 형식에 강제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654296"/>
            <a:ext cx="11045952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480060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2B62B7"/>
                </a:solidFill>
                <a:latin typeface="Noto Sans CJK KR"/>
              </a:rPr>
              <a:t>P5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773168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152642"/>
                </a:solidFill>
                <a:latin typeface="Noto Sans CJK KR"/>
              </a:rPr>
              <a:t>낮은 중요도 공시 누락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4773168"/>
            <a:ext cx="8321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263141"/>
                </a:solidFill>
                <a:latin typeface="Noto Sans CJK KR"/>
              </a:rPr>
              <a:t>중요도와 관계없이 원문·분석·Human 피드백 이력을 모두 저장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577840"/>
            <a:ext cx="11045952" cy="530352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B5D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5733288"/>
            <a:ext cx="10515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2D875E"/>
                </a:solidFill>
                <a:latin typeface="Noto Sans CJK KR"/>
              </a:rPr>
              <a:t>설계 원칙  |  변화 탐지는 Program의 명시적 기준, 변화 맥락 설명은 Agent, 최종 중요도 판단은 Human이 담당한다.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27080" y="6437376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16F82"/>
                </a:solidFill>
                <a:latin typeface="Noto Sans CJK KR"/>
              </a:rPr>
              <a:t>05/07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834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B62B7"/>
                </a:solidFill>
                <a:latin typeface="Noto Sans CJK KR"/>
              </a:rPr>
              <a:t>TO-BE AGENTIC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52642"/>
                </a:solidFill>
                <a:latin typeface="Noto Sans CJK KR"/>
              </a:rPr>
              <a:t>업무별 역할 구분 및 To-Be Agentic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33271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16F82"/>
                </a:solidFill>
                <a:latin typeface="Noto Sans CJK KR"/>
              </a:rPr>
              <a:t>AI Agent를 많이 만드는 것이 아니라, 실제 업무 단계에 맞춰 Program·Agent·Human을 분리한다.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1325880" cy="1069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1874519"/>
            <a:ext cx="11795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7454BE"/>
                </a:solidFill>
                <a:latin typeface="Noto Sans CJK KR"/>
              </a:rP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176272"/>
            <a:ext cx="1179576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263141"/>
                </a:solidFill>
                <a:latin typeface="Noto Sans CJK KR"/>
              </a:rPr>
              <a:t>대상 기업·기간
공시유형 입력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737360"/>
            <a:ext cx="1325880" cy="1069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B6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30552" y="1874519"/>
            <a:ext cx="11795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2B62B7"/>
                </a:solidFill>
                <a:latin typeface="Noto Sans CJK KR"/>
              </a:rPr>
              <a:t>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0552" y="2176272"/>
            <a:ext cx="1179576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263141"/>
                </a:solidFill>
                <a:latin typeface="Noto Sans CJK KR"/>
              </a:rPr>
              <a:t>OpenDART 수집
원문 정규화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737360"/>
            <a:ext cx="1325880" cy="1069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B6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85032" y="1874519"/>
            <a:ext cx="11795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2B62B7"/>
                </a:solidFill>
                <a:latin typeface="Noto Sans CJK KR"/>
              </a:rPr>
              <a:t>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176272"/>
            <a:ext cx="1179576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263141"/>
                </a:solidFill>
                <a:latin typeface="Noto Sans CJK KR"/>
              </a:rPr>
              <a:t>DB 누적 저장
신규 공시 추가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1737360"/>
            <a:ext cx="1325880" cy="1069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B6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39512" y="1874519"/>
            <a:ext cx="11795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2B62B7"/>
                </a:solidFill>
                <a:latin typeface="Noto Sans CJK KR"/>
              </a:rPr>
              <a:t>PROGRAM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9512" y="2176272"/>
            <a:ext cx="1179576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263141"/>
                </a:solidFill>
                <a:latin typeface="Noto Sans CJK KR"/>
              </a:rPr>
              <a:t>변화 후보 탐지
프로젝트 기준 적용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1737360"/>
            <a:ext cx="1325880" cy="1069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A99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93992" y="1874519"/>
            <a:ext cx="11795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3A99BC"/>
                </a:solidFill>
                <a:latin typeface="Noto Sans CJK KR"/>
              </a:rPr>
              <a:t>AGENT 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3992" y="2176272"/>
            <a:ext cx="1179576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263141"/>
                </a:solidFill>
                <a:latin typeface="Noto Sans CJK KR"/>
              </a:rPr>
              <a:t>공시 핵심 사실
근거 추출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1737360"/>
            <a:ext cx="1325880" cy="1069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A99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48472" y="1874519"/>
            <a:ext cx="11795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3A99BC"/>
                </a:solidFill>
                <a:latin typeface="Noto Sans CJK KR"/>
              </a:rPr>
              <a:t>AGENT 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176272"/>
            <a:ext cx="1179576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263141"/>
                </a:solidFill>
                <a:latin typeface="Noto Sans CJK KR"/>
              </a:rPr>
              <a:t>변화 맥락·영향
확인사항 분석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1737360"/>
            <a:ext cx="1325880" cy="1069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A99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02952" y="1874519"/>
            <a:ext cx="11795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3A99BC"/>
                </a:solidFill>
                <a:latin typeface="Noto Sans CJK KR"/>
              </a:rPr>
              <a:t>AGENT 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2952" y="2176272"/>
            <a:ext cx="1179576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263141"/>
                </a:solidFill>
                <a:latin typeface="Noto Sans CJK KR"/>
              </a:rPr>
              <a:t>FACT 중심
보고서 초안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4160520"/>
            <a:ext cx="1325880" cy="1069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18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48472" y="4297680"/>
            <a:ext cx="11795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E18E32"/>
                </a:solidFill>
                <a:latin typeface="Noto Sans CJK KR"/>
              </a:rPr>
              <a:t>HUMAN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4599431"/>
            <a:ext cx="1179576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263141"/>
                </a:solidFill>
                <a:latin typeface="Noto Sans CJK KR"/>
              </a:rPr>
              <a:t>중요도 최종 판단
승인·보류·반려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29800" y="4160520"/>
            <a:ext cx="1325880" cy="10698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B6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02952" y="4297680"/>
            <a:ext cx="11795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2B62B7"/>
                </a:solidFill>
                <a:latin typeface="Noto Sans CJK KR"/>
              </a:rPr>
              <a:t>PROGRAM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02952" y="4599431"/>
            <a:ext cx="1179576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263141"/>
                </a:solidFill>
                <a:latin typeface="Noto Sans CJK KR"/>
              </a:rPr>
              <a:t>원문·분석·판단
이력 저장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828800" y="2267712"/>
            <a:ext cx="228600" cy="0"/>
          </a:xfrm>
          <a:prstGeom prst="line">
            <a:avLst/>
          </a:prstGeom>
          <a:ln w="20320">
            <a:solidFill>
              <a:srgbClr val="61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83280" y="2267712"/>
            <a:ext cx="228600" cy="0"/>
          </a:xfrm>
          <a:prstGeom prst="line">
            <a:avLst/>
          </a:prstGeom>
          <a:ln w="20320">
            <a:solidFill>
              <a:srgbClr val="61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937760" y="2267712"/>
            <a:ext cx="228600" cy="0"/>
          </a:xfrm>
          <a:prstGeom prst="line">
            <a:avLst/>
          </a:prstGeom>
          <a:ln w="20320">
            <a:solidFill>
              <a:srgbClr val="61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492240" y="2267712"/>
            <a:ext cx="228600" cy="0"/>
          </a:xfrm>
          <a:prstGeom prst="line">
            <a:avLst/>
          </a:prstGeom>
          <a:ln w="20320">
            <a:solidFill>
              <a:srgbClr val="61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046719" y="2267712"/>
            <a:ext cx="228601" cy="0"/>
          </a:xfrm>
          <a:prstGeom prst="line">
            <a:avLst/>
          </a:prstGeom>
          <a:ln w="20320">
            <a:solidFill>
              <a:srgbClr val="61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601200" y="2267712"/>
            <a:ext cx="228600" cy="0"/>
          </a:xfrm>
          <a:prstGeom prst="line">
            <a:avLst/>
          </a:prstGeom>
          <a:ln w="20320">
            <a:solidFill>
              <a:srgbClr val="61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8942832" y="2807208"/>
            <a:ext cx="1554480" cy="1353312"/>
          </a:xfrm>
          <a:prstGeom prst="line">
            <a:avLst/>
          </a:prstGeom>
          <a:ln w="20320">
            <a:solidFill>
              <a:srgbClr val="61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601200" y="4690872"/>
            <a:ext cx="228600" cy="0"/>
          </a:xfrm>
          <a:prstGeom prst="line">
            <a:avLst/>
          </a:prstGeom>
          <a:ln w="20320">
            <a:solidFill>
              <a:srgbClr val="616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28968" y="3721607"/>
            <a:ext cx="2713863" cy="2354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 dirty="0" err="1">
                <a:solidFill>
                  <a:srgbClr val="BF5050"/>
                </a:solidFill>
                <a:latin typeface="Noto Sans CJK KR"/>
              </a:rPr>
              <a:t>반려</a:t>
            </a:r>
            <a:r>
              <a:rPr sz="930" b="1" dirty="0">
                <a:solidFill>
                  <a:srgbClr val="BF5050"/>
                </a:solidFill>
                <a:latin typeface="Noto Sans CJK KR"/>
              </a:rPr>
              <a:t> 시 </a:t>
            </a:r>
            <a:r>
              <a:rPr sz="930" b="1" dirty="0" err="1">
                <a:solidFill>
                  <a:srgbClr val="BF5050"/>
                </a:solidFill>
                <a:latin typeface="Noto Sans CJK KR"/>
              </a:rPr>
              <a:t>사유에</a:t>
            </a:r>
            <a:r>
              <a:rPr sz="930" b="1" dirty="0">
                <a:solidFill>
                  <a:srgbClr val="BF5050"/>
                </a:solidFill>
                <a:latin typeface="Noto Sans CJK KR"/>
              </a:rPr>
              <a:t> </a:t>
            </a:r>
            <a:r>
              <a:rPr sz="930" b="1" dirty="0" err="1">
                <a:solidFill>
                  <a:srgbClr val="BF5050"/>
                </a:solidFill>
                <a:latin typeface="Noto Sans CJK KR"/>
              </a:rPr>
              <a:t>따라</a:t>
            </a:r>
            <a:r>
              <a:rPr sz="930" b="1" dirty="0">
                <a:solidFill>
                  <a:srgbClr val="BF5050"/>
                </a:solidFill>
                <a:latin typeface="Noto Sans CJK KR"/>
              </a:rPr>
              <a:t> Agent ①/②/③ </a:t>
            </a:r>
            <a:r>
              <a:rPr sz="930" b="1" dirty="0" err="1">
                <a:solidFill>
                  <a:srgbClr val="BF5050"/>
                </a:solidFill>
                <a:latin typeface="Noto Sans CJK KR"/>
              </a:rPr>
              <a:t>재작업</a:t>
            </a:r>
            <a:endParaRPr sz="930" b="1" dirty="0">
              <a:solidFill>
                <a:srgbClr val="BF5050"/>
              </a:solidFill>
              <a:latin typeface="Noto Sans CJK KR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594360" y="4114800"/>
            <a:ext cx="6949440" cy="1536192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60" y="4334256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52642"/>
                </a:solidFill>
                <a:latin typeface="Noto Sans CJK KR"/>
              </a:rPr>
              <a:t>프로젝트 변화 탐지 기준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4690872"/>
            <a:ext cx="6309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40">
                <a:solidFill>
                  <a:srgbClr val="263141"/>
                </a:solidFill>
                <a:latin typeface="Noto Sans CJK KR"/>
              </a:defRPr>
            </a:pPr>
            <a:r>
              <a:t>• 직전 유사 공시 대비 금액 ±20% 이상</a:t>
            </a:r>
          </a:p>
          <a:p>
            <a:pPr>
              <a:spcAft>
                <a:spcPts val="400"/>
              </a:spcAft>
              <a:defRPr sz="940">
                <a:solidFill>
                  <a:srgbClr val="263141"/>
                </a:solidFill>
                <a:latin typeface="Noto Sans CJK KR"/>
              </a:defRPr>
            </a:pPr>
            <a:r>
              <a:t>• 관련 재무항목 전년 대비 ±15% 이상</a:t>
            </a:r>
          </a:p>
          <a:p>
            <a:pPr>
              <a:spcAft>
                <a:spcPts val="400"/>
              </a:spcAft>
              <a:defRPr sz="940">
                <a:solidFill>
                  <a:srgbClr val="263141"/>
                </a:solidFill>
                <a:latin typeface="Noto Sans CJK KR"/>
              </a:defRPr>
            </a:pPr>
            <a:r>
              <a:t>• 기본 최근 3년 비교, 동일 유형 사례가 적으면 최대 최근 5년까지 확장</a:t>
            </a:r>
          </a:p>
          <a:p>
            <a:pPr>
              <a:spcAft>
                <a:spcPts val="400"/>
              </a:spcAft>
              <a:defRPr sz="940">
                <a:solidFill>
                  <a:srgbClr val="263141"/>
                </a:solidFill>
                <a:latin typeface="Noto Sans CJK KR"/>
              </a:defRPr>
            </a:pPr>
            <a:r>
              <a:t>• 공시에 신규사업·중단·사업재편 등 명시적 표현 등장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27080" y="6437376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16F82"/>
                </a:solidFill>
                <a:latin typeface="Noto Sans CJK KR"/>
              </a:rPr>
              <a:t>06/07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834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B62B7"/>
                </a:solidFill>
                <a:latin typeface="Noto Sans CJK KR"/>
              </a:rPr>
              <a:t>AGENT DESIGN · HITL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52642"/>
                </a:solidFill>
                <a:latin typeface="Noto Sans CJK KR"/>
              </a:rPr>
              <a:t>Agent 역할 및 Input/Output · Human-in-the-Loop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33271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16F82"/>
                </a:solidFill>
                <a:latin typeface="Noto Sans CJK KR"/>
              </a:rPr>
              <a:t>앞 Agent의 Output이 다음 Agent의 Input이 되며, 접수번호와 원문 근거, 분석 이력을 끝까지 유지한다.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456432" cy="3364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B62B7"/>
                </a:solidFill>
                <a:latin typeface="Noto Sans CJK K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572768"/>
            <a:ext cx="2606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52642"/>
                </a:solidFill>
                <a:latin typeface="Noto Sans CJK KR"/>
              </a:rPr>
              <a:t>Disclosure
Analysis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212848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>
                <a:solidFill>
                  <a:srgbClr val="616F82"/>
                </a:solidFill>
                <a:latin typeface="Noto Sans CJK KR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194560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263141"/>
                </a:solidFill>
                <a:latin typeface="Noto Sans CJK KR"/>
              </a:rPr>
              <a:t>공시 핵심 사실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807208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>
                <a:solidFill>
                  <a:srgbClr val="616F82"/>
                </a:solidFill>
                <a:latin typeface="Noto Sans CJK KR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2788920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263141"/>
                </a:solidFill>
                <a:latin typeface="Noto Sans CJK KR"/>
              </a:rPr>
              <a:t>원문에서 확인 가능한 사건·금액·일자·근거를 구조화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401568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>
                <a:solidFill>
                  <a:srgbClr val="616F82"/>
                </a:solidFill>
                <a:latin typeface="Noto Sans CJK KR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83279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263141"/>
                </a:solidFill>
                <a:latin typeface="Noto Sans CJK KR"/>
              </a:rPr>
              <a:t>공시 원문, 기업정보, 접수번호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995928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>
                <a:solidFill>
                  <a:srgbClr val="616F82"/>
                </a:solidFill>
                <a:latin typeface="Noto Sans CJK KR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977640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263141"/>
                </a:solidFill>
                <a:latin typeface="Noto Sans CJK KR"/>
              </a:rPr>
              <a:t>FACT, 원문 근거, 확인 불가 정보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1417320"/>
            <a:ext cx="3456432" cy="3364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1627632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B62B7"/>
                </a:solidFill>
                <a:latin typeface="Noto Sans CJK KR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599" y="1572768"/>
            <a:ext cx="2606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52642"/>
                </a:solidFill>
                <a:latin typeface="Noto Sans CJK KR"/>
              </a:rPr>
              <a:t>Business Change
Analyst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1" y="2212848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>
                <a:solidFill>
                  <a:srgbClr val="616F82"/>
                </a:solidFill>
                <a:latin typeface="Noto Sans CJK KR"/>
              </a:rPr>
              <a:t>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5192" y="2194560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263141"/>
                </a:solidFill>
                <a:latin typeface="Noto Sans CJK KR"/>
              </a:rPr>
              <a:t>변화 맥락·영향 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1" y="2807208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>
                <a:solidFill>
                  <a:srgbClr val="616F82"/>
                </a:solidFill>
                <a:latin typeface="Noto Sans CJK KR"/>
              </a:rPr>
              <a:t>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5192" y="2788920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263141"/>
                </a:solidFill>
                <a:latin typeface="Noto Sans CJK KR"/>
              </a:rPr>
              <a:t>Program이 탐지한 변화 후보의 맥락과 추가 확인사항 정리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1" y="3401568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>
                <a:solidFill>
                  <a:srgbClr val="616F82"/>
                </a:solidFill>
                <a:latin typeface="Noto Sans CJK KR"/>
              </a:rPr>
              <a:t>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65192" y="3383279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263141"/>
                </a:solidFill>
                <a:latin typeface="Noto Sans CJK KR"/>
              </a:rPr>
              <a:t>Agent① 결과, 과거 공시, 계산 결과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1" y="3995928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>
                <a:solidFill>
                  <a:srgbClr val="616F82"/>
                </a:solidFill>
                <a:latin typeface="Noto Sans CJK KR"/>
              </a:rPr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65192" y="3977640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263141"/>
                </a:solidFill>
                <a:latin typeface="Noto Sans CJK KR"/>
              </a:rPr>
              <a:t>CHANGE, INTERPRETATION, NEEDS_VERIFICATION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1417320"/>
            <a:ext cx="3456432" cy="3364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0" y="1627632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B62B7"/>
                </a:solidFill>
                <a:latin typeface="Noto Sans CJK KR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1572768"/>
            <a:ext cx="2606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52642"/>
                </a:solidFill>
                <a:latin typeface="Noto Sans CJK KR"/>
              </a:rPr>
              <a:t>Intelligence
Report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2" y="2212848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>
                <a:solidFill>
                  <a:srgbClr val="616F82"/>
                </a:solidFill>
                <a:latin typeface="Noto Sans CJK KR"/>
              </a:rPr>
              <a:t>Role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14232" y="2194560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263141"/>
                </a:solidFill>
                <a:latin typeface="Noto Sans CJK KR"/>
              </a:rPr>
              <a:t>보고서 초안 작성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5592" y="2807208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>
                <a:solidFill>
                  <a:srgbClr val="616F82"/>
                </a:solidFill>
                <a:latin typeface="Noto Sans CJK KR"/>
              </a:rPr>
              <a:t>Goal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14232" y="2788920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263141"/>
                </a:solidFill>
                <a:latin typeface="Noto Sans CJK KR"/>
              </a:rPr>
              <a:t>사실·해석·확인필요를 구분한 검토용 보고서 작성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5592" y="3401568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>
                <a:solidFill>
                  <a:srgbClr val="616F82"/>
                </a:solidFill>
                <a:latin typeface="Noto Sans CJK KR"/>
              </a:rPr>
              <a:t>Input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14232" y="3383279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263141"/>
                </a:solidFill>
                <a:latin typeface="Noto Sans CJK KR"/>
              </a:rPr>
              <a:t>Agent①② 결과, 변화 탐지 기준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65592" y="3995928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>
                <a:solidFill>
                  <a:srgbClr val="616F82"/>
                </a:solidFill>
                <a:latin typeface="Noto Sans CJK KR"/>
              </a:rPr>
              <a:t>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14232" y="3977640"/>
            <a:ext cx="2514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263141"/>
                </a:solidFill>
                <a:latin typeface="Noto Sans CJK KR"/>
              </a:rPr>
              <a:t>요약 보고서, 출처, 후속 확인사항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120640"/>
            <a:ext cx="11137392" cy="960120"/>
          </a:xfrm>
          <a:prstGeom prst="roundRect">
            <a:avLst/>
          </a:prstGeom>
          <a:solidFill>
            <a:srgbClr val="FBF6EC"/>
          </a:solidFill>
          <a:ln w="12700">
            <a:solidFill>
              <a:srgbClr val="E8C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5330952"/>
            <a:ext cx="1874519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18E32"/>
                </a:solidFill>
                <a:latin typeface="Noto Sans CJK KR"/>
              </a:rPr>
              <a:t>Human-in-the-Loop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14600" y="5257800"/>
            <a:ext cx="8823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3141"/>
                </a:solidFill>
                <a:latin typeface="Noto Sans CJK KR"/>
              </a:rPr>
              <a:t>전략기획 담당자는 보고서 초안의 원문 근거 일치 여부, 사실·해석 구분, 과도한 추론 여부를 검토하고 최종 중요도(높음/중간/낮음/보류)를 판단한다.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4600" y="5715000"/>
            <a:ext cx="88239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>
                <a:solidFill>
                  <a:srgbClr val="BF5050"/>
                </a:solidFill>
                <a:latin typeface="Noto Sans CJK KR"/>
              </a:rPr>
              <a:t>문제 발생 시: 근거 오류 → Agent①, 비교·해석 오류 → Agent②, 보고서 형식 오류 → Agent③ 재작업 / 중요도 낮음도 원문·분석 이력 저장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27080" y="6437376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16F82"/>
                </a:solidFill>
                <a:latin typeface="Noto Sans CJK KR"/>
              </a:rPr>
              <a:t>07/07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1020</Words>
  <Application>Microsoft Office PowerPoint</Application>
  <PresentationFormat>와이드스크린</PresentationFormat>
  <Paragraphs>173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Noto Sans CJK KR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성엽 김</cp:lastModifiedBy>
  <cp:revision>6</cp:revision>
  <dcterms:created xsi:type="dcterms:W3CDTF">2013-01-27T09:14:16Z</dcterms:created>
  <dcterms:modified xsi:type="dcterms:W3CDTF">2026-10-07T06:54:07Z</dcterms:modified>
  <cp:category/>
</cp:coreProperties>
</file>